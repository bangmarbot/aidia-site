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1F1F"/>
                </a:solidFill>
                <a:latin typeface="Calibri"/>
              </a:defRPr>
            </a:pPr>
            <a:r>
              <a:t>Bypass Culture:</a:t>
            </a:r>
            <a:br/>
            <a:r>
              <a:t>Why Salespeople Reject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563EB"/>
                </a:solidFill>
                <a:latin typeface="Calibri"/>
              </a:defRPr>
            </a:pPr>
            <a:r>
              <a:t>Theory &amp; Conceptual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023360"/>
            <a:ext cx="301752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Human Capital Strategy — President University,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Group 6: Muslih, Nadhira, Cheng Jia Pei, Mita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1F1F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Oval 5"/>
          <p:cNvSpPr/>
          <p:nvPr/>
        </p:nvSpPr>
        <p:spPr>
          <a:xfrm>
            <a:off x="1097280" y="16459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691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1F1F"/>
                </a:solidFill>
                <a:latin typeface="Calibri"/>
              </a:defRPr>
            </a:pPr>
            <a:r>
              <a:t>What bypass behaviours do salespeople exhibit towards CRM?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9260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971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1F1F"/>
                </a:solidFill>
                <a:latin typeface="Calibri"/>
              </a:defRPr>
            </a:pPr>
            <a:r>
              <a:t>What are the root causes? (system design, training, enforcement)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206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251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1F1F"/>
                </a:solidFill>
                <a:latin typeface="Calibri"/>
              </a:defRPr>
            </a:pPr>
            <a:r>
              <a:t>What interventions can organisations implement?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1F1F"/>
                </a:solidFill>
                <a:latin typeface="Calibri"/>
              </a:defRPr>
            </a:pPr>
            <a:r>
              <a:t>Theoretical Foundation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7280"/>
                </a:solidFill>
                <a:latin typeface="Calibri"/>
              </a:defRPr>
            </a:pPr>
            <a:r>
              <a:t>This paper uses 3 theoretical lenses: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03327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148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1F1F"/>
                </a:solidFill>
                <a:latin typeface="Calibri"/>
              </a:defRPr>
            </a:pPr>
            <a:r>
              <a:t>3Es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5603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Engineering, Education, Enforcement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83280"/>
            <a:ext cx="103327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20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520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1F1F"/>
                </a:solidFill>
                <a:latin typeface="Calibri"/>
              </a:defRPr>
            </a:pPr>
            <a:r>
              <a:t>Technology Acceptance Model (TAM)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31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Davis (1989)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80"/>
            <a:ext cx="103327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92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892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1F1F"/>
                </a:solidFill>
                <a:latin typeface="Calibri"/>
              </a:defRPr>
            </a:pPr>
            <a:r>
              <a:t>Organisational Behaviour Theory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303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Vroom, Kerr, Kotter, Vaughan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1F1F"/>
                </a:solidFill>
                <a:latin typeface="Calibri"/>
              </a:defRPr>
            </a:pPr>
            <a:r>
              <a:t>Technology Acceptance Model (TAM)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563EB"/>
                </a:solidFill>
                <a:latin typeface="Calibri"/>
              </a:defRPr>
            </a:pPr>
            <a:r>
              <a:t>Davis (1989)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Calibri"/>
              </a:defRPr>
            </a:pPr>
            <a:r>
              <a:t>Perceived Usefulness (PU)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1F1F"/>
                </a:solidFill>
                <a:latin typeface="Calibri"/>
              </a:defRPr>
            </a:pPr>
            <a:r>
              <a:t>"Does this system help me do my job better?"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327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5468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Calibri"/>
              </a:defRPr>
            </a:pPr>
            <a:r>
              <a:t>Perceived Ease of Use (PEOU)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1F1F"/>
                </a:solidFill>
                <a:latin typeface="Calibri"/>
              </a:defRPr>
            </a:pPr>
            <a:r>
              <a:t>"Is this system easy to use?"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69848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💡 Key Insight: PU &gt; PEOU — if users don't see value, ease of use alone won't drive adoption (Avlonitis &amp; Panagopoulos, 2005)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1F1F"/>
                </a:solidFill>
                <a:latin typeface="Calibri"/>
              </a:defRPr>
            </a:pPr>
            <a:r>
              <a:t>TAM2: Social Influence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563EB"/>
                </a:solidFill>
                <a:latin typeface="Calibri"/>
              </a:defRPr>
            </a:pPr>
            <a:r>
              <a:t>Venkatesh &amp; Davis (2000)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1F1F1F"/>
                </a:solidFill>
                <a:latin typeface="Calibri"/>
              </a:defRPr>
            </a:pPr>
            <a:r>
              <a:t>▸  Not just individual perception, but also Subjective Norms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1F1F1F"/>
                </a:solidFill>
                <a:latin typeface="Calibri"/>
              </a:defRPr>
            </a:pPr>
            <a:r>
              <a:t>▸  Manager doesn't use CRM data → signal: "CRM isn't important"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1F1F1F"/>
                </a:solidFill>
                <a:latin typeface="Calibri"/>
              </a:defRPr>
            </a:pPr>
            <a:r>
              <a:t>▸  Peers bypass → "this is how things work here"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1F1F1F"/>
                </a:solidFill>
                <a:latin typeface="Calibri"/>
              </a:defRPr>
            </a:pPr>
            <a:r>
              <a:t>▸  Social environment shapes adoption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1F1F"/>
                </a:solidFill>
                <a:latin typeface="Calibri"/>
              </a:defRPr>
            </a:pPr>
            <a:r>
              <a:t>The 3Es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463040"/>
            <a:ext cx="32004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32004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004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Enforcement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32004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F1F1F"/>
                </a:solidFill>
                <a:latin typeface="Calibri"/>
              </a:defRPr>
            </a:pPr>
            <a:r>
              <a:t>Does the system fit the workflow?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86000"/>
            <a:ext cx="32004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F1F1F"/>
                </a:solidFill>
                <a:latin typeface="Calibri"/>
              </a:defRPr>
            </a:pPr>
            <a:r>
              <a:t>Do users understand WHY?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286000"/>
            <a:ext cx="32004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F1F1F"/>
                </a:solidFill>
                <a:latin typeface="Calibri"/>
              </a:defRPr>
            </a:pPr>
            <a:r>
              <a:t>Are there consequences?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063240"/>
            <a:ext cx="32004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F1F1F"/>
                </a:solidFill>
                <a:latin typeface="Calibri"/>
              </a:defRPr>
            </a:pPr>
            <a:r>
              <a:t>What's the friction level?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063240"/>
            <a:ext cx="32004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F1F1F"/>
                </a:solidFill>
                <a:latin typeface="Calibri"/>
              </a:defRPr>
            </a:pPr>
            <a:r>
              <a:t>Is training ongoing?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063240"/>
            <a:ext cx="32004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F1F1F"/>
                </a:solidFill>
                <a:latin typeface="Calibri"/>
              </a:defRPr>
            </a:pPr>
            <a:r>
              <a:t>Are KPIs tied to usage?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840480"/>
            <a:ext cx="32004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F1F1F"/>
                </a:solidFill>
                <a:latin typeface="Calibri"/>
              </a:defRPr>
            </a:pPr>
            <a:r>
              <a:t>Is it mobile-ready?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840480"/>
            <a:ext cx="32004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F1F1F"/>
                </a:solidFill>
                <a:latin typeface="Calibri"/>
              </a:defRPr>
            </a:pPr>
            <a:r>
              <a:t>Is there a strategic narrative?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840480"/>
            <a:ext cx="32004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F1F1F"/>
                </a:solidFill>
                <a:latin typeface="Calibri"/>
              </a:defRPr>
            </a:pPr>
            <a:r>
              <a:t>Is there manager monitoring?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⚠️  All three dimensions must be present — if one is absent, adoption fails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1F1F"/>
                </a:solidFill>
                <a:latin typeface="Calibri"/>
              </a:defRPr>
            </a:pPr>
            <a:r>
              <a:t>Expectancy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563EB"/>
                </a:solidFill>
                <a:latin typeface="Calibri"/>
              </a:defRPr>
            </a:pPr>
            <a:r>
              <a:t>Vroom (1964)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Calibri"/>
              </a:defRPr>
            </a:pPr>
            <a:r>
              <a:t>Motivation = Expectancy × Instrumentality × Valence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560320"/>
            <a:ext cx="32004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Calibri"/>
              </a:defRPr>
            </a:pPr>
            <a:r>
              <a:t>Expectancy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1F1F"/>
                </a:solidFill>
                <a:latin typeface="Calibri"/>
              </a:defRPr>
            </a:pPr>
            <a:r>
              <a:t>Effort → Performance?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60320"/>
            <a:ext cx="32004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Calibri"/>
              </a:defRPr>
            </a:pPr>
            <a:r>
              <a:t>Instrumentality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1F1F"/>
                </a:solidFill>
                <a:latin typeface="Calibri"/>
              </a:defRPr>
            </a:pPr>
            <a:r>
              <a:t>Performance → Reward?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60320"/>
            <a:ext cx="32004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Calibri"/>
              </a:defRPr>
            </a:pPr>
            <a:r>
              <a:t>Valence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1F1F"/>
                </a:solidFill>
                <a:latin typeface="Calibri"/>
              </a:defRPr>
            </a:pPr>
            <a:r>
              <a:t>Is the reward valued?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69848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💡 Key Insight: Broken link: CRM compliance ≠ reward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1F1F"/>
                </a:solidFill>
                <a:latin typeface="Calibri"/>
              </a:defRPr>
            </a:pPr>
            <a:r>
              <a:t>Rewarding A, Hoping for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563EB"/>
                </a:solidFill>
                <a:latin typeface="Calibri"/>
              </a:defRPr>
            </a:pPr>
            <a:r>
              <a:t>Kerr (1975)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200">
                <a:solidFill>
                  <a:srgbClr val="1F1F1F"/>
                </a:solidFill>
                <a:latin typeface="Calibri"/>
              </a:defRPr>
            </a:pPr>
            <a:r>
              <a:t>▸  Organisation REWARDS: deals closed (A)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200">
                <a:solidFill>
                  <a:srgbClr val="1F1F1F"/>
                </a:solidFill>
                <a:latin typeface="Calibri"/>
              </a:defRPr>
            </a:pPr>
            <a:r>
              <a:t>▸  Organisation HOPES FOR: CRM compliance (B)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200">
                <a:solidFill>
                  <a:srgbClr val="1F1F1F"/>
                </a:solidFill>
                <a:latin typeface="Calibri"/>
              </a:defRPr>
            </a:pPr>
            <a:r>
              <a:t>▸  A and B compete → A always wins because A is what gets paid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💡 Key Insight: Bypass is not irrational — it's rational optimisation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1F1F"/>
                </a:solidFill>
                <a:latin typeface="Calibri"/>
              </a:defRPr>
            </a:pPr>
            <a:r>
              <a:t>Normalised Deviance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563EB"/>
                </a:solidFill>
                <a:latin typeface="Calibri"/>
              </a:defRPr>
            </a:pPr>
            <a:r>
              <a:t>Vaughan (1996)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1F1F1F"/>
                </a:solidFill>
                <a:latin typeface="Calibri"/>
              </a:defRPr>
            </a:pPr>
            <a:r>
              <a:t>▸  Repeated violations without consequences → become "normal"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1F1F1F"/>
                </a:solidFill>
                <a:latin typeface="Calibri"/>
              </a:defRPr>
            </a:pPr>
            <a:r>
              <a:t>▸  Individual workaround → team habit → organisational culture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1F1F1F"/>
                </a:solidFill>
                <a:latin typeface="Calibri"/>
              </a:defRPr>
            </a:pPr>
            <a:r>
              <a:t>▸  = "Bypass Culture"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1F1F1F"/>
                </a:solidFill>
                <a:latin typeface="Calibri"/>
              </a:defRPr>
            </a:pPr>
            <a:r>
              <a:t>▸  New hires learn from peers → self-reinforcing culture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💡 Key Insight: Breaking the cycle requires resetting organisational expectations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1F1F"/>
                </a:solidFill>
                <a:latin typeface="Calibri"/>
              </a:defRPr>
            </a:pPr>
            <a:r>
              <a:t>Change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563EB"/>
                </a:solidFill>
                <a:latin typeface="Calibri"/>
              </a:defRPr>
            </a:pPr>
            <a:r>
              <a:t>Kotter (1996)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200">
                <a:solidFill>
                  <a:srgbClr val="1F1F1F"/>
                </a:solidFill>
                <a:latin typeface="Calibri"/>
              </a:defRPr>
            </a:pPr>
            <a:r>
              <a:t>▸  CRM deployment = technology rollout  ❌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200">
                <a:solidFill>
                  <a:srgbClr val="1F1F1F"/>
                </a:solidFill>
                <a:latin typeface="Calibri"/>
              </a:defRPr>
            </a:pPr>
            <a:r>
              <a:t>▸  CRM deployment = organisational change initiative  ✅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200">
                <a:solidFill>
                  <a:srgbClr val="1F1F1F"/>
                </a:solidFill>
                <a:latin typeface="Calibri"/>
              </a:defRPr>
            </a:pPr>
            <a:r>
              <a:t>▸  What gets skipped: urgency, guiding coalition, manager buy-in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💡 Key Insight: Shallow adoption that erodes over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1F1F"/>
                </a:solidFill>
                <a:latin typeface="Calibri"/>
              </a:defRPr>
            </a:pPr>
            <a:r>
              <a:t>The 3Es Interaction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5720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Engineering without Enforcement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6459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1F1F1F"/>
                </a:solidFill>
                <a:latin typeface="Calibri"/>
              </a:defRPr>
            </a:pPr>
            <a:r>
              <a:t>great tools, nobody uses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45720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Enforcement without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83464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50292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1F1F1F"/>
                </a:solidFill>
                <a:latin typeface="Calibri"/>
              </a:defRPr>
            </a:pPr>
            <a:r>
              <a:t>shallow compliance, resentment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23360"/>
            <a:ext cx="45720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Education without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402336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0292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1F1F1F"/>
                </a:solidFill>
                <a:latin typeface="Calibri"/>
              </a:defRPr>
            </a:pPr>
            <a:r>
              <a:t>users understand but are frustrated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69848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💡 Key Insight: Enforcement = the most critical lever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1F1F"/>
                </a:solidFill>
                <a:latin typeface="Calibri"/>
              </a:defRPr>
            </a:pPr>
            <a:r>
              <a:t>Conceptual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1188720"/>
            <a:ext cx="393192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3Es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301752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286000"/>
            <a:ext cx="301752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286000"/>
            <a:ext cx="301752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Enforcement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291840"/>
            <a:ext cx="3017520" cy="7315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TAM</a:t>
            </a:r>
            <a:br/>
            <a:r>
              <a:t>(PU / PEOU)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291840"/>
            <a:ext cx="3017520" cy="7315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TAM2</a:t>
            </a:r>
            <a:br/>
            <a:r>
              <a:t>(Social Influence)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291840"/>
            <a:ext cx="3017520" cy="7315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OB Theory</a:t>
            </a:r>
            <a:br/>
            <a:r>
              <a:t>(Vroom / Kerr)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4526280"/>
            <a:ext cx="5212080" cy="6400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92400E"/>
                </a:solidFill>
                <a:latin typeface="Calibri"/>
              </a:defRPr>
            </a:pPr>
            <a:r>
              <a:t>Bypass Behaviour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C262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5623560"/>
            <a:ext cx="5212080" cy="64008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DC2626"/>
                </a:solidFill>
                <a:latin typeface="Calibri"/>
              </a:defRPr>
            </a:pPr>
            <a:r>
              <a:t>"Bypass Culture" (Normalised Deviance)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1F1F"/>
                </a:solidFill>
                <a:latin typeface="Calibri"/>
              </a:defRPr>
            </a:pPr>
            <a:r>
              <a:t>"If you build a CRM and nobody uses it,</a:t>
            </a:r>
            <a:br/>
            <a:r>
              <a:t>don't blame the users."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6B7280"/>
                </a:solidFill>
                <a:latin typeface="Calibri"/>
              </a:defRPr>
            </a:pPr>
            <a:r>
              <a:t>Examine the system. Examine the training.</a:t>
            </a:r>
            <a:br/>
            <a:r>
              <a:t>And above all — examine whether you've given people any reason to comply.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1F1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1F1F1F"/>
                </a:solidFill>
                <a:latin typeface="Calibri"/>
              </a:defRPr>
            </a:pPr>
            <a:r>
              <a:t>•  Davis, F.D. (1989) — Technology Acceptance Model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1F1F1F"/>
                </a:solidFill>
                <a:latin typeface="Calibri"/>
              </a:defRPr>
            </a:pPr>
            <a:r>
              <a:t>•  Venkatesh, V. &amp; Davis, F.D. (2000) — TAM2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1F1F1F"/>
                </a:solidFill>
                <a:latin typeface="Calibri"/>
              </a:defRPr>
            </a:pPr>
            <a:r>
              <a:t>•  Vroom, V.H. (1964) — Expectancy Theory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1F1F1F"/>
                </a:solidFill>
                <a:latin typeface="Calibri"/>
              </a:defRPr>
            </a:pPr>
            <a:r>
              <a:t>•  Kerr, S. (1975) — Rewarding A, Hoping for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1F1F1F"/>
                </a:solidFill>
                <a:latin typeface="Calibri"/>
              </a:defRPr>
            </a:pPr>
            <a:r>
              <a:t>•  Kotter, J.P. (1996) — Change Management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1F1F1F"/>
                </a:solidFill>
                <a:latin typeface="Calibri"/>
              </a:defRPr>
            </a:pPr>
            <a:r>
              <a:t>•  Vaughan, D. (1996) — Normalised Deviance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1F1F1F"/>
                </a:solidFill>
                <a:latin typeface="Calibri"/>
              </a:defRPr>
            </a:pPr>
            <a:r>
              <a:t>•  Avlonitis, G.J. &amp; Panagopoulos, N.G. (2005) — CRM + TAM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1F1F1F"/>
                </a:solidFill>
                <a:latin typeface="Calibri"/>
              </a:defRPr>
            </a:pPr>
            <a:r>
              <a:t>•  Homburg, C. et al. (2010) — Sales Tech Resistance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