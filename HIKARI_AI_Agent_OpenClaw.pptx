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AI Agent with OpenClaw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FF"/>
                </a:solidFill>
                <a:latin typeface="Segoe UI"/>
              </a:defRPr>
            </a:pPr>
            <a:r>
              <a:t>Architecture &amp; Step-by-Step Setup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B8"/>
                </a:solidFill>
                <a:latin typeface="Segoe UI"/>
              </a:defRPr>
            </a:pPr>
            <a:r>
              <a:t>HIKARI Forum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What is an AI Agent?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029200" cy="22860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43"/>
                </a:solidFill>
                <a:latin typeface="Segoe UI"/>
              </a:defRPr>
            </a:pPr>
            <a:r>
              <a:t>ChatGPT / GenAI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B8"/>
                </a:solidFill>
                <a:latin typeface="Segoe UI"/>
              </a:defRPr>
            </a:pPr>
            <a:r>
              <a:t>You ask, it answers</a:t>
            </a:r>
            <a:br/>
            <a:r>
              <a:t>You stop, it stops</a:t>
            </a:r>
            <a:br/>
            <a:r>
              <a:t>No memory between sessions</a:t>
            </a:r>
            <a:br/>
            <a:r>
              <a:t>Can't take 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22860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Segoe UI"/>
              </a:defRPr>
            </a:pPr>
            <a:r>
              <a:t>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286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You assign, it works autonomously</a:t>
            </a:r>
            <a:br/>
            <a:r>
              <a:t>Runs 24/7 without you</a:t>
            </a:r>
            <a:br/>
            <a:r>
              <a:t>Has memory &amp; context</a:t>
            </a:r>
            <a:br/>
            <a:r>
              <a:t>Can read, write, code, browse, send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698480" cy="16459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Segoe UI"/>
              </a:defRPr>
            </a:pPr>
            <a:r>
              <a:t>Key Difference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ChatGPT is a conversation.  AI Agent is a worker.</a:t>
            </a:r>
            <a:br/>
            <a:r>
              <a:t>An AI Agent has TOOLS -- it can act on the real world, not just talk about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Architecture: How It All Connects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011680" cy="16459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Segoe UI"/>
              </a:defRPr>
            </a:pPr>
            <a:r>
              <a:t>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B8"/>
                </a:solidFill>
                <a:latin typeface="Segoe UI"/>
              </a:defRPr>
            </a:pPr>
            <a:r>
              <a:t>Telegram App</a:t>
            </a:r>
            <a:br/>
            <a:r>
              <a:t>on your phone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645920"/>
            <a:ext cx="2011680" cy="16459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Segoe UI"/>
              </a:defRPr>
            </a:pPr>
            <a:r>
              <a:t>Telegram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B8"/>
                </a:solidFill>
                <a:latin typeface="Segoe UI"/>
              </a:defRPr>
            </a:pPr>
            <a:r>
              <a:t>Bot API</a:t>
            </a:r>
            <a:br/>
            <a:r>
              <a:t>(cloud, free)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645920"/>
            <a:ext cx="2011680" cy="1645920"/>
          </a:xfrm>
          <a:prstGeom prst="roundRect">
            <a:avLst/>
          </a:prstGeom>
          <a:solidFill>
            <a:srgbClr val="2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85CFF"/>
                </a:solidFill>
                <a:latin typeface="Segoe UI"/>
              </a:defRPr>
            </a:pPr>
            <a:r>
              <a:t>OpenClaw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B8"/>
                </a:solidFill>
                <a:latin typeface="Segoe UI"/>
              </a:defRPr>
            </a:pPr>
            <a:r>
              <a:t>Gateway</a:t>
            </a:r>
            <a:br/>
            <a:r>
              <a:t>Agent Runtime</a:t>
            </a:r>
            <a:br/>
            <a:r>
              <a:t>Memory &amp;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1645920"/>
            <a:ext cx="2011680" cy="1645920"/>
          </a:xfrm>
          <a:prstGeom prst="roundRect">
            <a:avLst/>
          </a:prstGeom>
          <a:solidFill>
            <a:srgbClr val="3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F43"/>
                </a:solidFill>
                <a:latin typeface="Segoe UI"/>
              </a:defRPr>
            </a:pPr>
            <a:r>
              <a:t>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B8"/>
                </a:solidFill>
                <a:latin typeface="Segoe UI"/>
              </a:defRPr>
            </a:pPr>
            <a:r>
              <a:t>Claude / GPT</a:t>
            </a:r>
            <a:br/>
            <a:r>
              <a:t>Codex / Gemini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651760" y="2194560"/>
            <a:ext cx="73152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5760720" y="2194560"/>
            <a:ext cx="73152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9144000" y="2194560"/>
            <a:ext cx="73152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11247120" cy="25603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Segoe UI"/>
              </a:defRPr>
            </a:pPr>
            <a:r>
              <a:t>What the Agent Can Do (Tools)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1691640" cy="1097280"/>
          </a:xfrm>
          <a:prstGeom prst="round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Read Files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06039" y="4572000"/>
            <a:ext cx="1691640" cy="1097280"/>
          </a:xfrm>
          <a:prstGeom prst="round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39" y="475488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Write/Edit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4572000"/>
            <a:ext cx="1691640" cy="1097280"/>
          </a:xfrm>
          <a:prstGeom prst="round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75488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Browse Web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79" y="4572000"/>
            <a:ext cx="1691640" cy="1097280"/>
          </a:xfrm>
          <a:prstGeom prst="round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475488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Run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4572000"/>
            <a:ext cx="1691640" cy="1097280"/>
          </a:xfrm>
          <a:prstGeom prst="round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75488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Send Messages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572000"/>
            <a:ext cx="1691640" cy="1097280"/>
          </a:xfrm>
          <a:prstGeom prst="round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475488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Remember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 Flow: Message to Response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783080" cy="22860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You send</a:t>
            </a:r>
            <a:br/>
            <a:r>
              <a:t>a message</a:t>
            </a:r>
            <a:br/>
            <a:r>
              <a:t>on Telegram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645920"/>
            <a:ext cx="1783080" cy="22860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3160" y="1737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37744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Telegram API</a:t>
            </a:r>
            <a:br/>
            <a:r>
              <a:t>forwards to</a:t>
            </a:r>
            <a:br/>
            <a:r>
              <a:t>your bot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1783080" cy="22860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737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85C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7744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OpenClaw</a:t>
            </a:r>
            <a:br/>
            <a:r>
              <a:t>builds context</a:t>
            </a:r>
            <a:br/>
            <a:r>
              <a:t>&amp; memory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645920"/>
            <a:ext cx="1783080" cy="22860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1737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F43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237744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LLM thinks</a:t>
            </a:r>
            <a:br/>
            <a:r>
              <a:t>&amp; decides</a:t>
            </a:r>
            <a:br/>
            <a:r>
              <a:t>what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645920"/>
            <a:ext cx="1783080" cy="22860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96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Agent acts:</a:t>
            </a:r>
            <a:br/>
            <a:r>
              <a:t>read, calc,</a:t>
            </a:r>
            <a:br/>
            <a:r>
              <a:t>write, fetch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1645920"/>
            <a:ext cx="1783080" cy="22860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1737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237744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Response</a:t>
            </a:r>
            <a:br/>
            <a:r>
              <a:t>sent back to</a:t>
            </a:r>
            <a:br/>
            <a:r>
              <a:t>Telegram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72000"/>
            <a:ext cx="5303520" cy="1371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Segoe UI"/>
              </a:defRPr>
            </a:pPr>
            <a:r>
              <a:t>Rule-Based Bot (JASUTIM)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20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B8"/>
                </a:solidFill>
                <a:latin typeface="Segoe UI"/>
              </a:defRPr>
            </a:pPr>
            <a:r>
              <a:t>Python + SQLite</a:t>
            </a:r>
            <a:br/>
            <a:r>
              <a:t>No AI, no cost, predictable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572000"/>
            <a:ext cx="5303520" cy="1371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Segoe UI"/>
              </a:defRPr>
            </a:pPr>
            <a:r>
              <a:t>AI-Powered Bot (BangMar)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120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OpenClaw + LLM</a:t>
            </a:r>
            <a:br/>
            <a:r>
              <a:t>Smart, flexible, conversational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Let's Build Your Own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E696"/>
                </a:solidFill>
                <a:latin typeface="Segoe UI"/>
              </a:defRPr>
            </a:pPr>
            <a:r>
              <a:t>Step-by-Step Setup on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B8"/>
                </a:solidFill>
                <a:latin typeface="Segoe UI"/>
              </a:defRPr>
            </a:pPr>
            <a:r>
              <a:t>Time needed: ~15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Step 0: Prerequisites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0972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Laptop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Windows 10 or later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515600" cy="10972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Telegram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7432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Personal account on your phone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515600" cy="10972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233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AI Subscription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023359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ChatGPT Plus / Claude Pro / Google Gemini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79"/>
            <a:ext cx="10515600" cy="10972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Internet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303519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Stable WiFi or mobile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Step 1: Install Node.js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B8"/>
                </a:solidFill>
                <a:latin typeface="Segoe UI"/>
              </a:defRPr>
            </a:pPr>
            <a:r>
              <a:t>OpenClaw runs on Node.js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685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1. Go to  nodejs.org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515600" cy="685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2. Click Download  (LTS version)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515600" cy="685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3. Run installer: Next &gt; Next &gt; Finish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10515600" cy="685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4. Open Command Prompt  (Win+R &gt; cmd &gt; Enter)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515600" cy="685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5. Verify:  node --version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Step 2: Install OpenClaw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097280"/>
          </a:xfrm>
          <a:prstGeom prst="round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00E696"/>
                </a:solidFill>
                <a:latin typeface="Consolas"/>
              </a:defRPr>
            </a:pPr>
            <a:r>
              <a:t>npm install -g openclaw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B8"/>
                </a:solidFill>
                <a:latin typeface="Segoe UI"/>
              </a:defRPr>
            </a:pPr>
            <a:r>
              <a:t>Verify: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515600" cy="914400"/>
          </a:xfrm>
          <a:prstGeom prst="round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00E696"/>
                </a:solidFill>
                <a:latin typeface="Consolas"/>
              </a:defRPr>
            </a:pPr>
            <a:r>
              <a:t>openclaw --version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That's it. OpenClaw is installed.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Step 3: Create a Telegram Bot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7315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Segoe UI"/>
              </a:defRPr>
            </a:pPr>
            <a:r>
              <a:t>Open Telegram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188720"/>
            <a:ext cx="5486400" cy="7315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Search for @BotFather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5029200" cy="7315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Segoe UI"/>
              </a:defRPr>
            </a:pPr>
            <a:r>
              <a:t>Send /newbot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57400"/>
            <a:ext cx="5486400" cy="7315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BotFather asks for a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5029200" cy="7315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Segoe UI"/>
              </a:defRPr>
            </a:pPr>
            <a:r>
              <a:t>Choose a name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926080"/>
            <a:ext cx="5486400" cy="7315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e.g. "My AI Assistant"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59"/>
            <a:ext cx="5029200" cy="7315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88619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Segoe UI"/>
              </a:defRPr>
            </a:pPr>
            <a:r>
              <a:t>Choose username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794759"/>
            <a:ext cx="5486400" cy="7315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88619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Must end with 'bot'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5029200" cy="7315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7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Segoe UI"/>
              </a:defRPr>
            </a:pPr>
            <a:r>
              <a:t>Copy the token!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663440"/>
            <a:ext cx="5486400" cy="7315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7548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e.g. 8664961397:AAGD6__...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532120"/>
            <a:ext cx="5029200" cy="7315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62355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Segoe UI"/>
              </a:defRPr>
            </a:pPr>
            <a:r>
              <a:t>Save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5532120"/>
            <a:ext cx="5486400" cy="7315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562355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Needed in next step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Step 4: Connect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B8"/>
                </a:solidFill>
                <a:latin typeface="Segoe UI"/>
              </a:defRPr>
            </a:pPr>
            <a:r>
              <a:t>Run the setup wizard: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515600" cy="914400"/>
          </a:xfrm>
          <a:prstGeom prst="round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00E696"/>
                </a:solidFill>
                <a:latin typeface="Consolas"/>
              </a:defRPr>
            </a:pPr>
            <a:r>
              <a:t>openclaw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B8"/>
                </a:solidFill>
                <a:latin typeface="Segoe UI"/>
              </a:defRPr>
            </a:pPr>
            <a:r>
              <a:t>The wizard will ask: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Segoe UI"/>
              </a:defRPr>
            </a:pPr>
            <a:r>
              <a:t>Bot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Paste from BotFather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51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Segoe UI"/>
              </a:defRPr>
            </a:pPr>
            <a:r>
              <a:t>AI 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251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OpenAI / Anthropic / Google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Segoe UI"/>
              </a:defRPr>
            </a:pPr>
            <a:r>
              <a:t>API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From your AI provider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440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440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gpt-4o / claude-opus / gemini-pro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035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Segoe UI"/>
              </a:defRPr>
            </a:pPr>
            <a:r>
              <a:t>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035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Telegram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Step 5: Start Your Agent!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097280"/>
          </a:xfrm>
          <a:prstGeom prst="round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00E696"/>
                </a:solidFill>
                <a:latin typeface="Consolas"/>
              </a:defRPr>
            </a:pPr>
            <a:r>
              <a:t>openclaw gateway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Open Telegram &gt; Chat with your bot &gt; It's alive!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515600" cy="22860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Try these: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"Hi, who are you?"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892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"Summarize the latest news about AI"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212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"Write a Python script that converts CSV to JSON"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532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"What time is it in Tokyo right now?"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52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"Create a weekly to-do list for me"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Where to Get API Keys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371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08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43"/>
                </a:solidFill>
                <a:latin typeface="Segoe UI"/>
              </a:defRPr>
            </a:pPr>
            <a:r>
              <a:t>OpenAI (GPT-4o, Codex)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D4FF"/>
                </a:solidFill>
                <a:latin typeface="Segoe UI"/>
              </a:defRPr>
            </a:pPr>
            <a:r>
              <a:t>platform.openai.com/api-keys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8"/>
                </a:solidFill>
                <a:latin typeface="Segoe UI"/>
              </a:defRPr>
            </a:pPr>
            <a:r>
              <a:t>$20/mo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515600" cy="1371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546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5CFF"/>
                </a:solidFill>
                <a:latin typeface="Segoe UI"/>
              </a:defRPr>
            </a:pPr>
            <a:r>
              <a:t>Anthropic (Claude Opus/Sonnet)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D4FF"/>
                </a:solidFill>
                <a:latin typeface="Segoe UI"/>
              </a:defRPr>
            </a:pPr>
            <a:r>
              <a:t>console.anthropic.com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776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8"/>
                </a:solidFill>
                <a:latin typeface="Segoe UI"/>
              </a:defRPr>
            </a:pPr>
            <a:r>
              <a:t>$20/mo Pro + credits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0515600" cy="1371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0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Segoe UI"/>
              </a:defRPr>
            </a:pPr>
            <a:r>
              <a:t>Google (Gemini Pro)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D4FF"/>
                </a:solidFill>
                <a:latin typeface="Segoe UI"/>
              </a:defRPr>
            </a:pPr>
            <a:r>
              <a:t>aistudio.google.com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6235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8"/>
                </a:solidFill>
                <a:latin typeface="Segoe UI"/>
              </a:defRPr>
            </a:pPr>
            <a:r>
              <a:t>Free tier available!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69280"/>
            <a:ext cx="10515600" cy="731520"/>
          </a:xfrm>
          <a:prstGeom prst="round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E696"/>
                </a:solidFill>
                <a:latin typeface="Segoe UI"/>
              </a:defRPr>
            </a:pPr>
            <a:r>
              <a:t>Tip: Start with Google Gemini (free) or OpenAI (most popular)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What Can You Build?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1371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Auto Report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8"/>
                </a:solidFill>
                <a:latin typeface="Segoe UI"/>
              </a:defRPr>
            </a:pPr>
            <a:r>
              <a:t>Send data &gt; formatted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5303520" cy="1371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59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Segoe UI"/>
              </a:defRPr>
            </a:pPr>
            <a:r>
              <a:t>Email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59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8"/>
                </a:solidFill>
                <a:latin typeface="Segoe UI"/>
              </a:defRPr>
            </a:pPr>
            <a:r>
              <a:t>Drafts, replies, follows 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303520" cy="1371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Segoe UI"/>
              </a:defRPr>
            </a:pPr>
            <a:r>
              <a:t>Data Entry 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8"/>
                </a:solidFill>
                <a:latin typeface="Segoe UI"/>
              </a:defRPr>
            </a:pPr>
            <a:r>
              <a:t>Chat input &gt; database/sheets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017520"/>
            <a:ext cx="5303520" cy="1371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CFF"/>
                </a:solidFill>
                <a:latin typeface="Segoe UI"/>
              </a:defRPr>
            </a:pPr>
            <a:r>
              <a:t>Research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37490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8"/>
                </a:solidFill>
                <a:latin typeface="Segoe UI"/>
              </a:defRPr>
            </a:pPr>
            <a:r>
              <a:t>Topic &gt; multi-source 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5303520" cy="1371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9D"/>
                </a:solidFill>
                <a:latin typeface="Segoe UI"/>
              </a:defRPr>
            </a:pPr>
            <a:r>
              <a:t>Meeting Prep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9495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8"/>
                </a:solidFill>
                <a:latin typeface="Segoe UI"/>
              </a:defRPr>
            </a:pPr>
            <a:r>
              <a:t>Reads docs &gt; talking 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663440"/>
            <a:ext cx="5303520" cy="1371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59" y="4846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Segoe UI"/>
              </a:defRPr>
            </a:pPr>
            <a:r>
              <a:t>Code Generator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539495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8"/>
                </a:solidFill>
                <a:latin typeface="Segoe UI"/>
              </a:defRPr>
            </a:pPr>
            <a:r>
              <a:t>Describe &gt; working code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Key Takeaway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743200"/>
            <a:ext cx="9418320" cy="2286000"/>
          </a:xfrm>
          <a:prstGeom prst="roundRect">
            <a:avLst/>
          </a:prstGeom>
          <a:solidFill>
            <a:srgbClr val="1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  <a:latin typeface="Segoe UI"/>
              </a:defRPr>
            </a:pPr>
            <a:r>
              <a:t>"If you can write the SOP,</a:t>
            </a:r>
            <a:br/>
            <a:r>
              <a:t>AI can do the job."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Don't just chat with AI -- delegate to AI.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Resources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5943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OpenClaw 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417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docs.openclaw.ai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515600" cy="5943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CFF"/>
                </a:solidFill>
                <a:latin typeface="Segoe UI"/>
              </a:defRPr>
            </a:pPr>
            <a:r>
              <a:t>OpenClaw Community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488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discord.com/invite/clawd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10515600" cy="5943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Segoe UI"/>
              </a:defRPr>
            </a:pPr>
            <a:r>
              <a:t>OpenAI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880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platform.openai.com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10515600" cy="5943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CFF"/>
                </a:solidFill>
                <a:latin typeface="Segoe UI"/>
              </a:defRPr>
            </a:pPr>
            <a:r>
              <a:t>Anthropic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611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console.anthropic.com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10515600" cy="5943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Segoe UI"/>
              </a:defRPr>
            </a:pPr>
            <a:r>
              <a:t>Google AI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343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aistudio.google.com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0515600" cy="1097280"/>
          </a:xfrm>
          <a:prstGeom prst="round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Segoe UI"/>
              </a:defRPr>
            </a:pPr>
            <a:r>
              <a:t>Challenge: Build an AI Agent that saves you 2+ hours/week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Share your progress -- let's learn together!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